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51560"/>
            <a:ext cx="10881360" cy="1097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PLANO DE FUGA E EVACUAÇÃO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40280"/>
            <a:ext cx="10698480" cy="7315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000" b="0">
                <a:solidFill>
                  <a:srgbClr val="D7E6F2"/>
                </a:solidFill>
              </a:defRPr>
            </a:pPr>
            <a:r>
              <a:t>Edificação corporativa empresarial • 7 pavimentos • 2.595 colaboradores administrativos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9966960" cy="8229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Material didático para treinamento de brigada de emergência e colaboradores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074920"/>
            <a:ext cx="996696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200" b="0">
                <a:solidFill>
                  <a:srgbClr val="D2D7DC"/>
                </a:solidFill>
              </a:defRPr>
            </a:pPr>
            <a:r>
              <a:t>Versão conceitual — deve ser compatibilizada com o projeto aprovado, medidas reais e exigências do CBMPE.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1. Objetivo do plano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Transformar o risco em uma sequência simples: perceber → comunicar → abandonar → reunir → conferir.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6400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3237"/>
                </a:solidFill>
              </a:defRPr>
            </a:pPr>
            <a:r>
              <a:t>• Orientar a evacuação organizada e segura dos pavimentos.</a:t>
            </a:r>
          </a:p>
          <a:p>
            <a:pPr>
              <a:spcAft>
                <a:spcPts val="800"/>
              </a:spcAft>
              <a:defRPr sz="1800">
                <a:solidFill>
                  <a:srgbClr val="2D3237"/>
                </a:solidFill>
              </a:defRPr>
            </a:pPr>
            <a:r>
              <a:t>• Priorizar as quatro escadas de emergência e impedir o uso dos elevadores durante incêndio.</a:t>
            </a:r>
          </a:p>
          <a:p>
            <a:pPr>
              <a:spcAft>
                <a:spcPts val="800"/>
              </a:spcAft>
              <a:defRPr sz="1800">
                <a:solidFill>
                  <a:srgbClr val="2D3237"/>
                </a:solidFill>
              </a:defRPr>
            </a:pPr>
            <a:r>
              <a:t>• Definir responsabilidades da brigada e comportamento esperado dos colaboradores.</a:t>
            </a:r>
          </a:p>
          <a:p>
            <a:pPr>
              <a:spcAft>
                <a:spcPts val="800"/>
              </a:spcAft>
              <a:defRPr sz="1800">
                <a:solidFill>
                  <a:srgbClr val="2D3237"/>
                </a:solidFill>
              </a:defRPr>
            </a:pPr>
            <a:r>
              <a:t>• Proteger pessoas com necessidades de apoio sem criar improvisos durante a emergência.</a:t>
            </a:r>
          </a:p>
          <a:p>
            <a:pPr>
              <a:spcAft>
                <a:spcPts val="800"/>
              </a:spcAft>
              <a:defRPr sz="1800">
                <a:solidFill>
                  <a:srgbClr val="2D3237"/>
                </a:solidFill>
              </a:defRPr>
            </a:pPr>
            <a:r>
              <a:t>• Manter as vias de acesso para bombeiros e evitar concentração de pessoas na via movimentada.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600200"/>
            <a:ext cx="3931920" cy="12344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60" y="1709928"/>
            <a:ext cx="36576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REGRA DE OURO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2103120"/>
            <a:ext cx="3657600" cy="6400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Em incêndio: alarme + escada protegida + saída para local seguro.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063240"/>
            <a:ext cx="3931920" cy="12344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52360" y="3172968"/>
            <a:ext cx="36576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NÃO FAZER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3566160"/>
            <a:ext cx="3657600" cy="6400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Não usar elevador; não voltar para buscar objetos; não bloquear portas.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526280"/>
            <a:ext cx="3931920" cy="12344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52360" y="4636008"/>
            <a:ext cx="36576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META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5029200"/>
            <a:ext cx="3657600" cy="6400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Evacuar sem correr, sem empurrar e sem retornar.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2. Caracterização da edificação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Dados fornecidos para o plano didático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Térreo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Recepção, ouvidoria e consultório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60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1º pavimento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39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Garagem e posto bancário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813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2º pavimento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06240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477 administrativos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846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56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3º pavimento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49240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657 administrativos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1417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1527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4º pavimento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1920240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403 administrativos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417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527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4º pavimento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1920240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403 administrativos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2560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2670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5º pavimento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063239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798 administrativos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2560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670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5º pavimento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63239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798 administrativos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703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813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6º pavimento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206240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260 administrativos + grupo gerador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3703320"/>
            <a:ext cx="5349240" cy="9144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3813048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6º pavimento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206240"/>
            <a:ext cx="50749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260 administrativos + grupo gerador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10789920" cy="4114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1">
                <a:solidFill>
                  <a:srgbClr val="BE2D2D"/>
                </a:solidFill>
              </a:defRPr>
            </a:pPr>
            <a:r>
              <a:t>População administrativa informada: 2.595 pessoas. Populações do térreo e 1º pavimento não foram informadas e precisam ser levantadas para o dimensionamento final.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3. Sistemas de proteção existentes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Elementos informados pelo usuário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5212080" cy="841248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PROTEÇÃO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4937760" cy="24688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8 hidrantes por pavimento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212080" cy="841248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2704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PROTEÇÃO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4937760" cy="24688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Extintores classes A, B e C distribuídos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68880"/>
            <a:ext cx="5212080" cy="841248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7860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PROTEÇÃO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71800"/>
            <a:ext cx="4937760" cy="24688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Sinalização de emergência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5212080" cy="841248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57860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PROTEÇÃO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971800"/>
            <a:ext cx="4937760" cy="24688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4 escadas de emergência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39"/>
            <a:ext cx="5212080" cy="841248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3016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PROTEÇÃO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023359"/>
            <a:ext cx="4937760" cy="24688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Portas corta-fogo P-90 com barras antipânico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520439"/>
            <a:ext cx="5212080" cy="841248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63016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PROTEÇÃO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023359"/>
            <a:ext cx="4937760" cy="24688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6 elevadores — não são rota de fuga em incêndio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572000"/>
            <a:ext cx="5212080" cy="841248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68172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PROTEÇÃO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074920"/>
            <a:ext cx="4937760" cy="24688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Grupo gerador no 6º pavimento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572000"/>
            <a:ext cx="5212080" cy="841248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468172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PROTEÇÃO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5074920"/>
            <a:ext cx="4937760" cy="246888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Edificação em esquina e via movimentada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4. Conceito de rota de fuga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A rota deve levar a pessoa do ambiente ocupado até um local seguro, com continuidade e sinalização.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11680" cy="10972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64207"/>
            <a:ext cx="17373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1 — ORIGEM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737360" cy="5029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Sala / salão / copa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103120"/>
            <a:ext cx="868680" cy="0"/>
          </a:xfrm>
          <a:prstGeom prst="line">
            <a:avLst/>
          </a:prstGeom>
          <a:ln w="38100">
            <a:solidFill>
              <a:srgbClr val="2B7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49039" y="1554480"/>
            <a:ext cx="2011680" cy="10972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1664207"/>
            <a:ext cx="17373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2 — CIRCULAÇÃO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2057400"/>
            <a:ext cx="1737360" cy="5029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Corredor sinalizado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806440" y="2103120"/>
            <a:ext cx="868680" cy="0"/>
          </a:xfrm>
          <a:prstGeom prst="line">
            <a:avLst/>
          </a:prstGeom>
          <a:ln w="38100">
            <a:solidFill>
              <a:srgbClr val="2B7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66560" y="1554480"/>
            <a:ext cx="2011680" cy="10972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03720" y="1664207"/>
            <a:ext cx="17373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3 — ESCADA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2057400"/>
            <a:ext cx="1737360" cy="5029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E1 a E4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823960" y="2103120"/>
            <a:ext cx="822960" cy="0"/>
          </a:xfrm>
          <a:prstGeom prst="line">
            <a:avLst/>
          </a:prstGeom>
          <a:ln w="38100">
            <a:solidFill>
              <a:srgbClr val="2B7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60" y="1554480"/>
            <a:ext cx="1737360" cy="10972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0" y="1664207"/>
            <a:ext cx="1463039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4 — SAÍDA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057400"/>
            <a:ext cx="1463039" cy="5029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Exterior seguro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246120"/>
            <a:ext cx="10149840" cy="5943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D3237"/>
                </a:solidFill>
              </a:defRPr>
            </a:pPr>
            <a:r>
              <a:t>Sempre que possível, a escolha da escada deve considerar a alternativa mais próxima e segura, evitando fumaça, calor, obstruções e aglomeração.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828800" y="4297680"/>
            <a:ext cx="2468880" cy="10972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965960" y="4407408"/>
            <a:ext cx="21945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FUMAÇA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800600"/>
            <a:ext cx="2194560" cy="5029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Se a rota estiver tomada por fumaça, não avance.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846320" y="4297680"/>
            <a:ext cx="2468880" cy="10972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83480" y="4407408"/>
            <a:ext cx="21945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PORTA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4800600"/>
            <a:ext cx="2194560" cy="5029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Feche a porta atrás de você sem trancar.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63840" y="4297680"/>
            <a:ext cx="2468880" cy="10972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01000" y="4407408"/>
            <a:ext cx="21945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ESCADA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4800600"/>
            <a:ext cx="2194560" cy="5029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Desça mantendo a direita e o fluxo.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5. Organização das quatro escadas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Proposta operacional: quatro rotas independentes, sem concentrar toda a população em uma única escada.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4983480" cy="15544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18488"/>
            <a:ext cx="47091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E1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4709160" cy="9601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Escada protegida P-90 • acesso sinalizado • uso prioritário em evacuação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4983480" cy="15544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18488"/>
            <a:ext cx="47091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E2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11680"/>
            <a:ext cx="4709160" cy="9601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Escada protegida P-90 • acesso sinalizado • uso prioritário em evacuação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4983480" cy="15544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584448"/>
            <a:ext cx="47091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E3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977639"/>
            <a:ext cx="4709160" cy="9601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Escada protegida P-90 • acesso sinalizado • uso prioritário em evacuação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74720"/>
            <a:ext cx="4983480" cy="15544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584448"/>
            <a:ext cx="47091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E4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977639"/>
            <a:ext cx="4709160" cy="9601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Escada protegida P-90 • acesso sinalizado • uso prioritário em evacuação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241280" cy="5943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300" b="0">
                <a:solidFill>
                  <a:srgbClr val="6E767E"/>
                </a:solidFill>
              </a:defRPr>
            </a:pPr>
            <a:r>
              <a:t>A identificação E1–E4 é didática. No projeto definitivo, deve corresponder exatamente às plantas, sinalização e numeração oficial da edificação.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6. Distribuição operacional por pavimento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Sem planta arquitetônica e larguras reais, não é possível declarar o dimensionamento final das saídas. A distribuição abaixo é uma regra de treinamento.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914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182B43"/>
                </a:solidFill>
              </a:defRPr>
            </a:pPr>
            <a:r>
              <a:t>2º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417320"/>
            <a:ext cx="10972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D3237"/>
                </a:solidFill>
              </a:defRPr>
            </a:pPr>
            <a:r>
              <a:t>477 pessoas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417320"/>
            <a:ext cx="3840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Rotas de treinamento: E1 + E2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417320"/>
            <a:ext cx="384048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200" b="0">
                <a:solidFill>
                  <a:srgbClr val="6E767E"/>
                </a:solidFill>
              </a:defRPr>
            </a:pPr>
            <a:r>
              <a:t>Sempre usar a escada disponível mais segura; alternar se houver fumaça/obstrução.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914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182B43"/>
                </a:solidFill>
              </a:defRPr>
            </a:pPr>
            <a:r>
              <a:t>3º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258568"/>
            <a:ext cx="10972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D3237"/>
                </a:solidFill>
              </a:defRPr>
            </a:pPr>
            <a:r>
              <a:t>657 pessoas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258568"/>
            <a:ext cx="3840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Rotas de treinamento: E1 + E2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58568"/>
            <a:ext cx="384048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200" b="0">
                <a:solidFill>
                  <a:srgbClr val="6E767E"/>
                </a:solidFill>
              </a:defRPr>
            </a:pPr>
            <a:r>
              <a:t>Sempre usar a escada disponível mais segura; alternar se houver fumaça/obstrução.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99816"/>
            <a:ext cx="914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182B43"/>
                </a:solidFill>
              </a:defRPr>
            </a:pPr>
            <a:r>
              <a:t>4º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099816"/>
            <a:ext cx="10972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D3237"/>
                </a:solidFill>
              </a:defRPr>
            </a:pPr>
            <a:r>
              <a:t>403 pessoas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3099816"/>
            <a:ext cx="3840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Rotas de treinamento: E3 + E4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099816"/>
            <a:ext cx="384048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200" b="0">
                <a:solidFill>
                  <a:srgbClr val="6E767E"/>
                </a:solidFill>
              </a:defRPr>
            </a:pPr>
            <a:r>
              <a:t>Sempre usar a escada disponível mais segura; alternar se houver fumaça/obstrução.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941064"/>
            <a:ext cx="914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182B43"/>
                </a:solidFill>
              </a:defRPr>
            </a:pPr>
            <a:r>
              <a:t>5º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941064"/>
            <a:ext cx="10972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D3237"/>
                </a:solidFill>
              </a:defRPr>
            </a:pPr>
            <a:r>
              <a:t>798 pessoas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941064"/>
            <a:ext cx="3840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Rotas de treinamento: E3 + E4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941064"/>
            <a:ext cx="384048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200" b="0">
                <a:solidFill>
                  <a:srgbClr val="6E767E"/>
                </a:solidFill>
              </a:defRPr>
            </a:pPr>
            <a:r>
              <a:t>Sempre usar a escada disponível mais segura; alternar se houver fumaça/obstrução.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782312"/>
            <a:ext cx="914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182B43"/>
                </a:solidFill>
              </a:defRPr>
            </a:pPr>
            <a:r>
              <a:t>6º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4782312"/>
            <a:ext cx="10972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D3237"/>
                </a:solidFill>
              </a:defRPr>
            </a:pPr>
            <a:r>
              <a:t>260 pessoas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782312"/>
            <a:ext cx="3840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Rotas de treinamento: E1 + E2 + E3 + E4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4782312"/>
            <a:ext cx="384048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200" b="0">
                <a:solidFill>
                  <a:srgbClr val="6E767E"/>
                </a:solidFill>
              </a:defRPr>
            </a:pPr>
            <a:r>
              <a:t>Sempre usar a escada disponível mais segura; alternar se houver fumaça/obstrução.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300" b="1">
                <a:solidFill>
                  <a:srgbClr val="E08023"/>
                </a:solidFill>
              </a:defRPr>
            </a:pPr>
            <a:r>
              <a:t>Importante: a definição final de qual escada recebe qual fluxo deve ser feita sobre a planta, considerando distância de percurso, largura útil, capacidade, descarga e independência das saídas.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7. Fluxo de evacuação — visão vertical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417320"/>
            <a:ext cx="2286000" cy="655755"/>
          </a:xfrm>
          <a:prstGeom prst="rect">
            <a:avLst/>
          </a:prstGeom>
          <a:solidFill>
            <a:srgbClr val="EBF2F8"/>
          </a:solidFill>
          <a:ln>
            <a:solidFill>
              <a:srgbClr val="6E7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87552" y="1453896"/>
            <a:ext cx="41148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100" b="1">
                <a:solidFill>
                  <a:srgbClr val="182B43"/>
                </a:solidFill>
              </a:defRPr>
            </a:pPr>
            <a:r>
              <a:t>6º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453896"/>
            <a:ext cx="100584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r">
              <a:defRPr sz="1000" b="0">
                <a:solidFill>
                  <a:srgbClr val="2D3237"/>
                </a:solidFill>
              </a:defRPr>
            </a:pPr>
            <a:r>
              <a:t>260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9651"/>
            <a:ext cx="2286000" cy="655755"/>
          </a:xfrm>
          <a:prstGeom prst="rect">
            <a:avLst/>
          </a:prstGeom>
          <a:solidFill>
            <a:srgbClr val="EBF2F8"/>
          </a:solidFill>
          <a:ln>
            <a:solidFill>
              <a:srgbClr val="6E7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146227"/>
            <a:ext cx="41148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100" b="1">
                <a:solidFill>
                  <a:srgbClr val="182B43"/>
                </a:solidFill>
              </a:defRPr>
            </a:pPr>
            <a:r>
              <a:t>5º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146227"/>
            <a:ext cx="100584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r">
              <a:defRPr sz="1000" b="0">
                <a:solidFill>
                  <a:srgbClr val="2D3237"/>
                </a:solidFill>
              </a:defRPr>
            </a:pPr>
            <a:r>
              <a:t>798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801982"/>
            <a:ext cx="2286000" cy="655755"/>
          </a:xfrm>
          <a:prstGeom prst="rect">
            <a:avLst/>
          </a:prstGeom>
          <a:solidFill>
            <a:srgbClr val="EBF2F8"/>
          </a:solidFill>
          <a:ln>
            <a:solidFill>
              <a:srgbClr val="6E7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838558"/>
            <a:ext cx="41148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100" b="1">
                <a:solidFill>
                  <a:srgbClr val="182B43"/>
                </a:solidFill>
              </a:defRPr>
            </a:pPr>
            <a:r>
              <a:t>4º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838558"/>
            <a:ext cx="100584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r">
              <a:defRPr sz="1000" b="0">
                <a:solidFill>
                  <a:srgbClr val="2D3237"/>
                </a:solidFill>
              </a:defRPr>
            </a:pPr>
            <a:r>
              <a:t>403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494314"/>
            <a:ext cx="2286000" cy="655755"/>
          </a:xfrm>
          <a:prstGeom prst="rect">
            <a:avLst/>
          </a:prstGeom>
          <a:solidFill>
            <a:srgbClr val="EBF2F8"/>
          </a:solidFill>
          <a:ln>
            <a:solidFill>
              <a:srgbClr val="6E7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530890"/>
            <a:ext cx="41148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100" b="1">
                <a:solidFill>
                  <a:srgbClr val="182B43"/>
                </a:solidFill>
              </a:defRPr>
            </a:pPr>
            <a:r>
              <a:t>3º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530890"/>
            <a:ext cx="100584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r">
              <a:defRPr sz="1000" b="0">
                <a:solidFill>
                  <a:srgbClr val="2D3237"/>
                </a:solidFill>
              </a:defRPr>
            </a:pPr>
            <a:r>
              <a:t>657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186645"/>
            <a:ext cx="2286000" cy="655755"/>
          </a:xfrm>
          <a:prstGeom prst="rect">
            <a:avLst/>
          </a:prstGeom>
          <a:solidFill>
            <a:srgbClr val="EBF2F8"/>
          </a:solidFill>
          <a:ln>
            <a:solidFill>
              <a:srgbClr val="6E7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4223221"/>
            <a:ext cx="41148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100" b="1">
                <a:solidFill>
                  <a:srgbClr val="182B43"/>
                </a:solidFill>
              </a:defRPr>
            </a:pPr>
            <a:r>
              <a:t>2º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223221"/>
            <a:ext cx="100584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r">
              <a:defRPr sz="1000" b="0">
                <a:solidFill>
                  <a:srgbClr val="2D3237"/>
                </a:solidFill>
              </a:defRPr>
            </a:pPr>
            <a:r>
              <a:t>477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78977"/>
            <a:ext cx="2286000" cy="655755"/>
          </a:xfrm>
          <a:prstGeom prst="rect">
            <a:avLst/>
          </a:prstGeom>
          <a:solidFill>
            <a:srgbClr val="EBF2F8"/>
          </a:solidFill>
          <a:ln>
            <a:solidFill>
              <a:srgbClr val="6E7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915553"/>
            <a:ext cx="41148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100" b="1">
                <a:solidFill>
                  <a:srgbClr val="182B43"/>
                </a:solidFill>
              </a:defRPr>
            </a:pPr>
            <a:r>
              <a:t>1º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915553"/>
            <a:ext cx="100584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r">
              <a:defRPr sz="1000" b="0">
                <a:solidFill>
                  <a:srgbClr val="2D3237"/>
                </a:solidFill>
              </a:defRPr>
            </a:pPr>
            <a:r>
              <a:t>Garagem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571308"/>
            <a:ext cx="2286000" cy="655755"/>
          </a:xfrm>
          <a:prstGeom prst="rect">
            <a:avLst/>
          </a:prstGeom>
          <a:solidFill>
            <a:srgbClr val="EBF2F8"/>
          </a:solidFill>
          <a:ln>
            <a:solidFill>
              <a:srgbClr val="6E76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607884"/>
            <a:ext cx="41148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100" b="1">
                <a:solidFill>
                  <a:srgbClr val="182B43"/>
                </a:solidFill>
              </a:defRPr>
            </a:pPr>
            <a:r>
              <a:t>Térreo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07884"/>
            <a:ext cx="1005840" cy="2286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r">
              <a:defRPr sz="1000" b="0">
                <a:solidFill>
                  <a:srgbClr val="2D3237"/>
                </a:solidFill>
              </a:defRPr>
            </a:pPr>
            <a:r>
              <a:t>Recepção</a:t>
            </a:r>
          </a:p>
        </p:txBody>
      </p:sp>
      <p:sp>
        <p:nvSpPr>
          <p:cNvPr id="26" name="Chevron 25"/>
          <p:cNvSpPr/>
          <p:nvPr/>
        </p:nvSpPr>
        <p:spPr>
          <a:xfrm>
            <a:off x="137160" y="1737360"/>
            <a:ext cx="640080" cy="502920"/>
          </a:xfrm>
          <a:prstGeom prst="chevron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1167" y="1856231"/>
            <a:ext cx="50292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E1</a:t>
            </a:r>
          </a:p>
        </p:txBody>
      </p:sp>
      <p:sp>
        <p:nvSpPr>
          <p:cNvPr id="28" name="Chevron 27"/>
          <p:cNvSpPr/>
          <p:nvPr/>
        </p:nvSpPr>
        <p:spPr>
          <a:xfrm>
            <a:off x="137160" y="2816352"/>
            <a:ext cx="640080" cy="502920"/>
          </a:xfrm>
          <a:prstGeom prst="chevron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1167" y="2935224"/>
            <a:ext cx="50292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E2</a:t>
            </a:r>
          </a:p>
        </p:txBody>
      </p:sp>
      <p:sp>
        <p:nvSpPr>
          <p:cNvPr id="30" name="Chevron 29"/>
          <p:cNvSpPr/>
          <p:nvPr/>
        </p:nvSpPr>
        <p:spPr>
          <a:xfrm>
            <a:off x="137160" y="3895344"/>
            <a:ext cx="640080" cy="502920"/>
          </a:xfrm>
          <a:prstGeom prst="chevron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1167" y="4014215"/>
            <a:ext cx="50292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E3</a:t>
            </a:r>
          </a:p>
        </p:txBody>
      </p:sp>
      <p:sp>
        <p:nvSpPr>
          <p:cNvPr id="32" name="Chevron 31"/>
          <p:cNvSpPr/>
          <p:nvPr/>
        </p:nvSpPr>
        <p:spPr>
          <a:xfrm>
            <a:off x="137160" y="4974336"/>
            <a:ext cx="640080" cy="502920"/>
          </a:xfrm>
          <a:prstGeom prst="chevron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1167" y="5093207"/>
            <a:ext cx="50292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E4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657600" y="1737360"/>
            <a:ext cx="1828800" cy="3886200"/>
          </a:xfrm>
          <a:prstGeom prst="line">
            <a:avLst/>
          </a:prstGeom>
          <a:ln w="31750">
            <a:solidFill>
              <a:srgbClr val="BE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657600" y="2423160"/>
            <a:ext cx="1828800" cy="3200400"/>
          </a:xfrm>
          <a:prstGeom prst="line">
            <a:avLst/>
          </a:prstGeom>
          <a:ln w="31750">
            <a:solidFill>
              <a:srgbClr val="BE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57600" y="3108960"/>
            <a:ext cx="1828800" cy="2514600"/>
          </a:xfrm>
          <a:prstGeom prst="line">
            <a:avLst/>
          </a:prstGeom>
          <a:ln w="31750">
            <a:solidFill>
              <a:srgbClr val="BE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57600" y="3794760"/>
            <a:ext cx="1828800" cy="1828800"/>
          </a:xfrm>
          <a:prstGeom prst="line">
            <a:avLst/>
          </a:prstGeom>
          <a:ln w="31750">
            <a:solidFill>
              <a:srgbClr val="BE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57600" y="4480560"/>
            <a:ext cx="1828800" cy="1143000"/>
          </a:xfrm>
          <a:prstGeom prst="line">
            <a:avLst/>
          </a:prstGeom>
          <a:ln w="31750">
            <a:solidFill>
              <a:srgbClr val="BE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657600" y="5166360"/>
            <a:ext cx="1828800" cy="457200"/>
          </a:xfrm>
          <a:prstGeom prst="line">
            <a:avLst/>
          </a:prstGeom>
          <a:ln w="31750">
            <a:solidFill>
              <a:srgbClr val="BE2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572000" y="1463040"/>
            <a:ext cx="429768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182B43"/>
                </a:solidFill>
              </a:defRPr>
            </a:pPr>
            <a:r>
              <a:t>Cada pavimento inicia a evacuação ao receber o alarme.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0" y="2423160"/>
            <a:ext cx="4114800" cy="105156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2532888"/>
            <a:ext cx="3840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FASE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2926080"/>
            <a:ext cx="3840480" cy="45719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Abandonar salas e dirigir-se à escada indicada.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0" y="3657600"/>
            <a:ext cx="4114800" cy="105156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09160" y="3767328"/>
            <a:ext cx="3840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FASE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60" y="4160520"/>
            <a:ext cx="3840480" cy="45719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Descer sem ultrapassagens, correria ou retorno.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0" y="4892040"/>
            <a:ext cx="4114800" cy="105156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60" y="5001768"/>
            <a:ext cx="3840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FASE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09160" y="5394959"/>
            <a:ext cx="3840480" cy="45719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Sair para área externa e seguir ao ponto de encontro.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8. Pavimento com maior população — 5º andar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798 colaboradores: prioridade máxima no treinamento de fluxo e controle de gargalos.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108960" cy="13716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283464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PRIMEIRA 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2834640" cy="7772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Abandonar postos ao sinal de alarme e seguir para as duas rotas indicadas na planta.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69080" y="1463040"/>
            <a:ext cx="3108960" cy="13716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1572768"/>
            <a:ext cx="283464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CONTROLE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965960"/>
            <a:ext cx="2834640" cy="7772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Brigadistas nos cruzamentos orientam a distribuição entre E1/E2 ou alternativas.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1463040"/>
            <a:ext cx="3108960" cy="13716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1572768"/>
            <a:ext cx="283464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SEM ELEVADOR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1965960"/>
            <a:ext cx="2834640" cy="7772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Os 6 elevadores não integram a rota de fuga durante incêndio.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74720"/>
            <a:ext cx="996696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182B43"/>
                </a:solidFill>
              </a:defRPr>
            </a:pPr>
            <a:r>
              <a:t>Meta didática: o colaborador não precisa “decidir sozinho” em meio à fumaça. Ele segue a sinalização e a orientação da brigada.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54880"/>
            <a:ext cx="996696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BE2D2D"/>
                </a:solidFill>
              </a:defRPr>
            </a:pPr>
            <a:r>
              <a:t>Treinar também o cenário “E1 indisponível”: todos devem conhecer uma alternativa.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9. Térreo e 1º pavimento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Ambientes com funções distintas exigem procedimentos específicos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72768"/>
            <a:ext cx="50292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TÉRREO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5029200" cy="12344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Recepção • Ouvidoria • Consultório</a:t>
            </a:r>
            <a:br/>
            <a:br/>
            <a:r>
              <a:t>Recepção/brigada orienta visitantes e pessoas que não conhecem o prédio. Consultório: atenção a pessoas com mobilidade reduzida.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0352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72768"/>
            <a:ext cx="50292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1º PAVIMENTO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65960"/>
            <a:ext cx="5029200" cy="12344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Garagem • Posto bancário</a:t>
            </a:r>
            <a:br/>
            <a:br/>
            <a:r>
              <a:t>Controlar saída de veículos. Em emergência, pedestres têm prioridade; não permitir que veículos bloqueiem acessos de bombeiros.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931920"/>
            <a:ext cx="1024128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BE2D2D"/>
                </a:solidFill>
              </a:defRPr>
            </a:pPr>
            <a:r>
              <a:t>Na esquina e em via movimentada, a área externa deve ser definida para não lançar a população diretamente no fluxo de veículos.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10. Pessoas com necessidades de apoio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Evacuação inclusiva: apoiar sem arrastar, carregar ou separar a pessoa do seu grupo sem necessidade.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212080" cy="11430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Pessoas idosas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93776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Ritmo constante • corrimão • evitar pressa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11430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8132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Mobilidade reduzida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874519"/>
            <a:ext cx="493776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Apoio individual • rota acessível/área de refúgio conforme projeto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5212080" cy="11430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Pessoas com deficiência visual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91839"/>
            <a:ext cx="493776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Orientação verbal clara • oferecer braço/cotovelo • descrever obstáculos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88920"/>
            <a:ext cx="5212080" cy="11430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89864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Pessoas com deficiência auditiva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91839"/>
            <a:ext cx="493776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Contato visual • gestos • comunicação escrita quando necessário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206240"/>
            <a:ext cx="5212080" cy="11430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31596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Pessoas com dificuldade de locomoção temporária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09159"/>
            <a:ext cx="493776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Designar acompanhante previamente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212080" cy="11430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315968"/>
            <a:ext cx="493776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Jovens / novos colaboradores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709159"/>
            <a:ext cx="493776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Reforçar que conhecer a rota é responsabilidade de todos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715000"/>
            <a:ext cx="1042416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300" b="1">
                <a:solidFill>
                  <a:srgbClr val="BE2D2D"/>
                </a:solidFill>
              </a:defRPr>
            </a:pPr>
            <a:r>
              <a:t>Nunca bloquear a escada para “esperar” alguém. A brigada deve organizar apoio e comunicação conforme o plano específico da edificação.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11. Portas corta-fogo P-90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A porta é parte da proteção da escada — deve permanecer fechada e operacional.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29184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30175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017520" cy="8229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Verificar fechamento, dobradiças, barra antipânico e ausência de calços.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29184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27048"/>
            <a:ext cx="30175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DURANTE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920240"/>
            <a:ext cx="3017520" cy="8229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Abrir pela barra, passar sem empurrões e permitir o fechamento.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291840" cy="141732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27048"/>
            <a:ext cx="301752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NUNCA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017520" cy="8229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Calçar, amarrar, travar ou manter a porta permanentemente aberta.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57600"/>
            <a:ext cx="10058400" cy="6400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100" b="1">
                <a:solidFill>
                  <a:srgbClr val="182B43"/>
                </a:solidFill>
              </a:defRPr>
            </a:pPr>
            <a:r>
              <a:t>A escada protegida só funciona como barreira contra fumaça e fogo se a porta e os demais elementos estiverem íntegros e em condições de uso.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058400" cy="6400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600" b="0">
                <a:solidFill>
                  <a:srgbClr val="6E767E"/>
                </a:solidFill>
              </a:defRPr>
            </a:pPr>
            <a:r>
              <a:t>Em inspeções, registrar portas com defeito e retirar a condição insegura imediatamente.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12. Elevadores e grupo gerador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Dois pontos críticos de decisão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029200" cy="210312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72768"/>
            <a:ext cx="4754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ELEVADORES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754880" cy="1508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• Não utilizar em incêndio.</a:t>
            </a:r>
            <a:br/>
            <a:r>
              <a:t>• Podem parar, abrir em pavimento com fumaça ou perder alimentação.</a:t>
            </a:r>
            <a:br/>
            <a:r>
              <a:t>• A evacuação vertical deve ocorrer pelas escadas de emergência.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029200" cy="210312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72768"/>
            <a:ext cx="4754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GRUPO GERADOR — 6º PAV.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754880" cy="1508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• Tratar como área técnica crítica.</a:t>
            </a:r>
            <a:br/>
            <a:r>
              <a:t>• Manter acesso e sinalização desobstruídos.</a:t>
            </a:r>
            <a:br/>
            <a:r>
              <a:t>• O gerador não deve ser confundido com rota de fuga.</a:t>
            </a:r>
            <a:br/>
            <a:r>
              <a:t>• Procedimentos de emergência devem considerar falha de energia.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10241280" cy="7315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500" b="1">
                <a:solidFill>
                  <a:srgbClr val="182B43"/>
                </a:solidFill>
              </a:defRPr>
            </a:pPr>
            <a:r>
              <a:t>Mensagem ao colaborador: “Elevador é transporte. Escada é fuga.”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13. Sinalização e iluminação de emergência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A pessoa deve conseguir identificar a rota mesmo sob estresse, baixa visibilidade ou falta de energia.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029200" cy="15544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754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SAÍDA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4754880" cy="9601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Indicar direção e continuidade da rota.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029200" cy="15544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527048"/>
            <a:ext cx="4754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ESCADA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920240"/>
            <a:ext cx="4754880" cy="9601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Identificar acesso à escada e alternativa.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37560"/>
            <a:ext cx="5029200" cy="15544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447288"/>
            <a:ext cx="4754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EQUIPAMENTOS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4754880" cy="9601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Hidrantes e extintores claramente identificados.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37560"/>
            <a:ext cx="5029200" cy="155448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447288"/>
            <a:ext cx="4754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ILUMINAÇÃO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840480"/>
            <a:ext cx="4754880" cy="960119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Garantir orientação quando a iluminação normal falhar.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02412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300" b="0">
                <a:solidFill>
                  <a:srgbClr val="6E767E"/>
                </a:solidFill>
              </a:defRPr>
            </a:pPr>
            <a:r>
              <a:t>O plano de sinalização deve ser compatibilizado com a norma vigente e com o projeto aprovado da edificação.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14. Ponto de encontro externo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Definição operacional para treinamento — não substitui a implantação em planta.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464B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513832"/>
            <a:ext cx="64008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F4CF4C"/>
                </a:solidFill>
              </a:defRPr>
            </a:pPr>
            <a: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5513832"/>
            <a:ext cx="64008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F4CF4C"/>
                </a:solidFill>
              </a:defRPr>
            </a:pPr>
            <a: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513832"/>
            <a:ext cx="64008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F4CF4C"/>
                </a:solidFill>
              </a:defRPr>
            </a:pPr>
            <a: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5513832"/>
            <a:ext cx="64008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F4CF4C"/>
                </a:solidFill>
              </a:defRPr>
            </a:pPr>
            <a: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513832"/>
            <a:ext cx="64008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F4CF4C"/>
                </a:solidFill>
              </a:defRPr>
            </a:pPr>
            <a: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513832"/>
            <a:ext cx="64008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F4CF4C"/>
                </a:solidFill>
              </a:defRPr>
            </a:pPr>
            <a: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5513832"/>
            <a:ext cx="64008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F4CF4C"/>
                </a:solidFill>
              </a:defRPr>
            </a:pPr>
            <a: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5513832"/>
            <a:ext cx="640080" cy="1828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1">
                <a:solidFill>
                  <a:srgbClr val="F4CF4C"/>
                </a:solidFill>
              </a:defRPr>
            </a:pPr>
            <a:r>
              <a:t>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1463040"/>
            <a:ext cx="5029200" cy="3383280"/>
          </a:xfrm>
          <a:prstGeom prst="rect">
            <a:avLst/>
          </a:prstGeom>
          <a:solidFill>
            <a:srgbClr val="EBF2F8"/>
          </a:solidFill>
          <a:ln>
            <a:solidFill>
              <a:srgbClr val="182B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0" y="1828800"/>
            <a:ext cx="411480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400" b="1">
                <a:solidFill>
                  <a:srgbClr val="182B43"/>
                </a:solidFill>
              </a:defRPr>
            </a:pPr>
            <a:r>
              <a:t>EDIFÍCIO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600200"/>
            <a:ext cx="2377440" cy="5486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600" b="1">
                <a:solidFill>
                  <a:srgbClr val="2B7E4D"/>
                </a:solidFill>
              </a:defRPr>
            </a:pPr>
            <a:r>
              <a:t>ÁREA DE</a:t>
            </a:r>
            <a:br/>
            <a:r>
              <a:t>CONCENTRAÇÃO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229600" y="2743200"/>
            <a:ext cx="1097280" cy="1097280"/>
          </a:xfrm>
          <a:prstGeom prst="line">
            <a:avLst/>
          </a:prstGeom>
          <a:ln w="38100">
            <a:solidFill>
              <a:srgbClr val="2B7E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0" y="2743200"/>
            <a:ext cx="2743200" cy="7315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300" b="1">
                <a:solidFill>
                  <a:srgbClr val="2D3237"/>
                </a:solidFill>
              </a:defRPr>
            </a:pPr>
            <a:r>
              <a:t>Fora do fluxo de veículos</a:t>
            </a:r>
            <a:br/>
            <a:r>
              <a:t>+ acesso livre para bombeiros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500" b="1">
                <a:solidFill>
                  <a:srgbClr val="BE2D2D"/>
                </a:solidFill>
              </a:defRPr>
            </a:pPr>
            <a:r>
              <a:t>Regra: ninguém permanece na calçada de acesso das viaturas nem retorna ao prédio.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15. Papel da brigada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A brigada organiza; o colaborador executa o fluxo.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3474720" cy="16916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27048"/>
            <a:ext cx="3200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Alarme / comunicação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3200400" cy="1097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Receber informação, acionar procedimento e comunicar a emergência.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17320"/>
            <a:ext cx="3474720" cy="16916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527048"/>
            <a:ext cx="3200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Abandono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20240"/>
            <a:ext cx="3200400" cy="1097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Orientar o fluxo para escadas, impedir retorno e manter portas funcionais.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417320"/>
            <a:ext cx="3474720" cy="16916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527048"/>
            <a:ext cx="3200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Busca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3200400" cy="1097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Verificar áreas designadas sem se expor à fumaça/calor e sem ultrapassar limites seguros.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474720" cy="16916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84448"/>
            <a:ext cx="3200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Primeiros cuidados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3200400" cy="1097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Apoiar pessoas, acionar atendimento e comunicar necessidades no ponto de encontro.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74720"/>
            <a:ext cx="3474720" cy="16916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3584448"/>
            <a:ext cx="3200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182B43"/>
                </a:solidFill>
              </a:defRPr>
            </a:pPr>
            <a:r>
              <a:t>Combate inicial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977639"/>
            <a:ext cx="3200400" cy="1097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Somente por brigadistas treinados, quando houver condições seguras e equipamentos adequados.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474720" cy="169164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584448"/>
            <a:ext cx="320040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6E767E"/>
                </a:solidFill>
              </a:defRPr>
            </a:pPr>
            <a:r>
              <a:t>Conferência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977639"/>
            <a:ext cx="3200400" cy="10972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Registrar setores/pavimentos evacuados e pessoas faltantes.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16. O que fazer quando o alarme tocar?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Roteiro de 60 segundos para o colaborador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640080" cy="640080"/>
          </a:xfrm>
          <a:prstGeom prst="ellipse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36776"/>
            <a:ext cx="64008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490472"/>
            <a:ext cx="256032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700" b="1">
                <a:solidFill>
                  <a:srgbClr val="182B43"/>
                </a:solidFill>
              </a:defRPr>
            </a:pPr>
            <a:r>
              <a:t>Pare o trabalho</a:t>
            </a:r>
          </a:p>
        </p:txBody>
      </p:sp>
      <p:sp>
        <p:nvSpPr>
          <p:cNvPr id="9" name="Oval 8"/>
          <p:cNvSpPr/>
          <p:nvPr/>
        </p:nvSpPr>
        <p:spPr>
          <a:xfrm>
            <a:off x="4480559" y="1508760"/>
            <a:ext cx="640080" cy="640080"/>
          </a:xfrm>
          <a:prstGeom prst="ellipse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59" y="1636776"/>
            <a:ext cx="64008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490472"/>
            <a:ext cx="256032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700" b="1">
                <a:solidFill>
                  <a:srgbClr val="182B43"/>
                </a:solidFill>
              </a:defRPr>
            </a:pPr>
            <a:r>
              <a:t>Mantenha a calma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0" y="1508760"/>
            <a:ext cx="640080" cy="640080"/>
          </a:xfrm>
          <a:prstGeom prst="ellipse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36776"/>
            <a:ext cx="64008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490472"/>
            <a:ext cx="256032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700" b="1">
                <a:solidFill>
                  <a:srgbClr val="182B43"/>
                </a:solidFill>
              </a:defRPr>
            </a:pPr>
            <a:r>
              <a:t>Avise quem estiver próximo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520440"/>
            <a:ext cx="640080" cy="640080"/>
          </a:xfrm>
          <a:prstGeom prst="ellipse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48456"/>
            <a:ext cx="64008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502152"/>
            <a:ext cx="256032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700" b="1">
                <a:solidFill>
                  <a:srgbClr val="182B43"/>
                </a:solidFill>
              </a:defRPr>
            </a:pPr>
            <a:r>
              <a:t>Siga a sinalização/brigada</a:t>
            </a:r>
          </a:p>
        </p:txBody>
      </p:sp>
      <p:sp>
        <p:nvSpPr>
          <p:cNvPr id="18" name="Oval 17"/>
          <p:cNvSpPr/>
          <p:nvPr/>
        </p:nvSpPr>
        <p:spPr>
          <a:xfrm>
            <a:off x="4480559" y="3520440"/>
            <a:ext cx="640080" cy="640080"/>
          </a:xfrm>
          <a:prstGeom prst="ellipse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59" y="3648456"/>
            <a:ext cx="64008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3502152"/>
            <a:ext cx="256032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700" b="1">
                <a:solidFill>
                  <a:srgbClr val="182B43"/>
                </a:solidFill>
              </a:defRPr>
            </a:pPr>
            <a:r>
              <a:t>Entre na escada — não no elevador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0" y="3520440"/>
            <a:ext cx="640080" cy="640080"/>
          </a:xfrm>
          <a:prstGeom prst="ellipse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3648456"/>
            <a:ext cx="640080" cy="2743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3502152"/>
            <a:ext cx="2560320" cy="6858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700" b="1">
                <a:solidFill>
                  <a:srgbClr val="182B43"/>
                </a:solidFill>
              </a:defRPr>
            </a:pPr>
            <a:r>
              <a:t>Desça e vá ao ponto de encontro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23560"/>
            <a:ext cx="102412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400" b="1">
                <a:solidFill>
                  <a:srgbClr val="BE2D2D"/>
                </a:solidFill>
              </a:defRPr>
            </a:pPr>
            <a:r>
              <a:t>Se houver fumaça intensa: mantenha-se baixo, procure uma rota alternativa segura e siga as instruções da brigada.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17. O que NÃO fazer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Comportamentos que aumentam o risco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502920" cy="365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BE2D2D"/>
                </a:solidFill>
              </a:defRPr>
            </a:pPr>
            <a:r>
              <a:t>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389888"/>
            <a:ext cx="466344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2D3237"/>
                </a:solidFill>
              </a:defRPr>
            </a:pPr>
            <a:r>
              <a:t>Usar elevadores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02920" cy="365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BE2D2D"/>
                </a:solidFill>
              </a:defRPr>
            </a:pPr>
            <a:r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389888"/>
            <a:ext cx="466344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2D3237"/>
                </a:solidFill>
              </a:defRPr>
            </a:pPr>
            <a:r>
              <a:t>Voltar para buscar celular, bolsa ou documentos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41448"/>
            <a:ext cx="502920" cy="365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BE2D2D"/>
                </a:solidFill>
              </a:defRPr>
            </a:pPr>
            <a:r>
              <a:t>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14016"/>
            <a:ext cx="466344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2D3237"/>
                </a:solidFill>
              </a:defRPr>
            </a:pPr>
            <a:r>
              <a:t>Correr ou empurrar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441448"/>
            <a:ext cx="502920" cy="365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BE2D2D"/>
                </a:solidFill>
              </a:defRPr>
            </a:pPr>
            <a: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2414016"/>
            <a:ext cx="466344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2D3237"/>
                </a:solidFill>
              </a:defRPr>
            </a:pPr>
            <a:r>
              <a:t>Bloquear a porta corta-fogo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65576"/>
            <a:ext cx="502920" cy="365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BE2D2D"/>
                </a:solidFill>
              </a:defRPr>
            </a:pPr>
            <a:r>
              <a:t>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438144"/>
            <a:ext cx="466344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2D3237"/>
                </a:solidFill>
              </a:defRPr>
            </a:pPr>
            <a:r>
              <a:t>Parar nos patamares para esperar amigos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465576"/>
            <a:ext cx="502920" cy="365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BE2D2D"/>
                </a:solidFill>
              </a:defRPr>
            </a:pPr>
            <a:r>
              <a:t>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3438144"/>
            <a:ext cx="466344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2D3237"/>
                </a:solidFill>
              </a:defRPr>
            </a:pPr>
            <a:r>
              <a:t>Retornar ao prédio sem autorização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89704"/>
            <a:ext cx="502920" cy="365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BE2D2D"/>
                </a:solidFill>
              </a:defRPr>
            </a:pPr>
            <a:r>
              <a:t>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62272"/>
            <a:ext cx="466344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2D3237"/>
                </a:solidFill>
              </a:defRPr>
            </a:pPr>
            <a:r>
              <a:t>Ficar na frente do acesso das viaturas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489704"/>
            <a:ext cx="502920" cy="3657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200" b="1">
                <a:solidFill>
                  <a:srgbClr val="BE2D2D"/>
                </a:solidFill>
              </a:defRPr>
            </a:pPr>
            <a:r>
              <a:t>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4462272"/>
            <a:ext cx="4663440" cy="4572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600" b="1">
                <a:solidFill>
                  <a:srgbClr val="2D3237"/>
                </a:solidFill>
              </a:defRPr>
            </a:pPr>
            <a:r>
              <a:t>Tentar combater um incêndio sem treinamento/condições seguras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18. Exercício prático de evacuação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Treinar antes da emergência é parte do plano.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74320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27048"/>
            <a:ext cx="2468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BE2D2D"/>
                </a:solidFill>
              </a:defRPr>
            </a:pPr>
            <a:r>
              <a:t>CENÁRIO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20240"/>
            <a:ext cx="2468880" cy="12344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Alarme no 5º pavimento + fumaça simulada próxima a uma rota.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1417320"/>
            <a:ext cx="274320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40" y="1527048"/>
            <a:ext cx="2468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E08023"/>
                </a:solidFill>
              </a:defRPr>
            </a:pPr>
            <a:r>
              <a:t>DESAFIO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0" y="1920240"/>
            <a:ext cx="2468880" cy="12344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E1 indisponível. Brigada deve redirecionar para alternativa sem contrafluxo.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417320"/>
            <a:ext cx="274320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0" y="1527048"/>
            <a:ext cx="24688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B7E4D"/>
                </a:solidFill>
              </a:defRPr>
            </a:pPr>
            <a:r>
              <a:t>OBJETIVO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920240"/>
            <a:ext cx="2468880" cy="12344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Evacuar de forma organizada, apoiar pessoas vulneráveis e chegar ao ponto de encontro.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55480" y="1417320"/>
            <a:ext cx="1828800" cy="1828800"/>
          </a:xfrm>
          <a:prstGeom prst="roundRect">
            <a:avLst/>
          </a:prstGeom>
          <a:solidFill>
            <a:srgbClr val="EBF2F8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1527048"/>
            <a:ext cx="1554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500" b="1">
                <a:solidFill>
                  <a:srgbClr val="2366A0"/>
                </a:solidFill>
              </a:defRPr>
            </a:pPr>
            <a:r>
              <a:t>AVALIAR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920240"/>
            <a:ext cx="1554480" cy="12344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300" b="0">
                <a:solidFill>
                  <a:srgbClr val="2D3237"/>
                </a:solidFill>
              </a:defRPr>
            </a:pPr>
            <a:r>
              <a:t>Tempo</a:t>
            </a:r>
            <a:br/>
            <a:r>
              <a:t>fluxo</a:t>
            </a:r>
            <a:br/>
            <a:r>
              <a:t>falhas</a:t>
            </a:r>
            <a:br/>
            <a:r>
              <a:t>pessoas não localizadas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40480"/>
            <a:ext cx="102412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700" b="1">
                <a:solidFill>
                  <a:srgbClr val="182B43"/>
                </a:solidFill>
              </a:defRPr>
            </a:pPr>
            <a:r>
              <a:t>Indicadores: tempo de início, tempo de saída, congestionamentos, portas, comunicação, comportamento e conferência.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892040"/>
            <a:ext cx="10241280" cy="5943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500" b="0">
                <a:solidFill>
                  <a:srgbClr val="6E767E"/>
                </a:solidFill>
              </a:defRPr>
            </a:pPr>
            <a:r>
              <a:t>Repetir o exercício em horários diferentes e com cenários distintos, sempre com segurança e autorização.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82B43"/>
                </a:solidFill>
              </a:defRPr>
            </a:pPr>
            <a:r>
              <a:t>19. Checklist de preparação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9728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E767E"/>
                </a:solidFill>
              </a:defRPr>
            </a:pPr>
            <a:r>
              <a:t>Antes do treinamento e antes da operação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0432"/>
            <a:ext cx="914400" cy="64008"/>
          </a:xfrm>
          <a:prstGeom prst="rect">
            <a:avLst/>
          </a:prstGeom>
          <a:solidFill>
            <a:srgbClr val="BE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258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984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Plantas atualizadas com as 4 escadas e rotas reais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258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12984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População real do térreo e 1º pavimento levantada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402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2128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Larguras úteis e capacidades das saídas conferidas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2402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2128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Rotas acessíveis e estratégia de apoio definidas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1272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Ponto de encontro implantado fora do fluxo de viaturas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546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31272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Sinalização e iluminação de emergência verificadas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690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0416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Portas P-90 e barras antipânico testadas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40690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0416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Brigadistas por pavimento identificados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834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9560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Procedimento para visitantes, posto bancário e garagem definido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983480"/>
            <a:ext cx="411480" cy="32004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900" b="1">
                <a:solidFill>
                  <a:srgbClr val="2B7E4D"/>
                </a:solidFill>
              </a:defRPr>
            </a:pPr>
            <a: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956048"/>
            <a:ext cx="4983480" cy="50292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l">
              <a:defRPr sz="1400" b="0">
                <a:solidFill>
                  <a:srgbClr val="2D3237"/>
                </a:solidFill>
              </a:defRPr>
            </a:pPr>
            <a:r>
              <a:t>Plano compatibilizado com projeto aprovado e exigências do CBMPE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789920" cy="64008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20. Mensagem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74519"/>
            <a:ext cx="10149840" cy="114300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</a:defRPr>
            </a:pPr>
            <a:r>
              <a:t>“Em uma emergência, não improvisamos a fuga.</a:t>
            </a:r>
            <a:br/>
            <a:r>
              <a:t>Nós seguimos o plano.”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66960" cy="8229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800" b="0">
                <a:solidFill>
                  <a:srgbClr val="D7E6F2"/>
                </a:solidFill>
              </a:defRPr>
            </a:pPr>
            <a:r>
              <a:t>Conheça sua rota • Conheça a escada • Ajude sem colocar-se em risco • Chegue ao ponto de encontro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257800"/>
            <a:ext cx="9966960" cy="594360"/>
          </a:xfrm>
          <a:prstGeom prst="rect">
            <a:avLst/>
          </a:prstGeom>
          <a:noFill/>
        </p:spPr>
        <p:txBody>
          <a:bodyPr wrap="square" lIns="50800" rIns="50800" tIns="38100" bIns="38100">
            <a:spAutoFit/>
          </a:bodyPr>
          <a:lstStyle/>
          <a:p>
            <a:pPr algn="ctr">
              <a:defRPr sz="1100" b="0">
                <a:solidFill>
                  <a:srgbClr val="CDD2D7"/>
                </a:solidFill>
              </a:defRPr>
            </a:pPr>
            <a:r>
              <a:t>Base normativa de referência: COSCIP/CBMPE e normas ABNT aplicáveis. Validar sempre a edição vigente e o projeto aprovado.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